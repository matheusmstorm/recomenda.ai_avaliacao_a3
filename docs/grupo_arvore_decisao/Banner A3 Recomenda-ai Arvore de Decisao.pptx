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32404050" cy="43205400"/>
  <p:notesSz cx="6858000" cy="9144000"/>
  <p:defaultTextStyle>
    <a:defPPr>
      <a:defRPr lang="pt-BR"/>
    </a:defPPr>
    <a:lvl1pPr marL="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1pPr>
    <a:lvl2pPr marL="216027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2pPr>
    <a:lvl3pPr marL="432054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3pPr>
    <a:lvl4pPr marL="648081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4pPr>
    <a:lvl5pPr marL="864108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5pPr>
    <a:lvl6pPr marL="1080135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6pPr>
    <a:lvl7pPr marL="1296162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7pPr>
    <a:lvl8pPr marL="1512189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8pPr>
    <a:lvl9pPr marL="1728216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D04F9E-6795-4676-88BA-B1E16E570692}" v="1" dt="2025-11-21T21:43:09.570"/>
    <p1510:client id="{AB671CEA-C5AF-41D6-B18C-7D257B097491}" v="667" dt="2025-11-21T21:37:01.7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" d="100"/>
          <a:sy n="12" d="100"/>
        </p:scale>
        <p:origin x="2635" y="149"/>
      </p:cViewPr>
      <p:guideLst>
        <p:guide orient="horz" pos="13608"/>
        <p:guide pos="102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30304" y="13421680"/>
            <a:ext cx="27543443" cy="926115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860608" y="24483060"/>
            <a:ext cx="22682835" cy="110413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20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80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641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801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961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1218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28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88D9-6F99-4774-8F18-D88D64460132}" type="datetimeFigureOut">
              <a:rPr lang="pt-BR" smtClean="0"/>
              <a:pPr/>
              <a:t>21/11/2025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5AF6-92C6-4656-8B3D-FE2340DD82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 vert="horz" lIns="432054" tIns="216027" rIns="432054" bIns="216027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 vert="horz" lIns="432054" tIns="216027" rIns="432054" bIns="216027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6202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l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088D9-6F99-4774-8F18-D88D64460132}" type="datetimeFigureOut">
              <a:rPr lang="pt-BR" smtClean="0"/>
              <a:pPr/>
              <a:t>21/11/2025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1071384" y="40045008"/>
            <a:ext cx="10261283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ct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232229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A5AF6-92C6-4656-8B3D-FE2340DD82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320540" rtl="0" eaLnBrk="1" latinLnBrk="0" hangingPunct="1">
        <a:spcBef>
          <a:spcPct val="0"/>
        </a:spcBef>
        <a:buNone/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203" indent="-1620203" algn="l" defTabSz="4320540" rtl="0" eaLnBrk="1" latinLnBrk="0" hangingPunct="1">
        <a:spcBef>
          <a:spcPct val="20000"/>
        </a:spcBef>
        <a:buFont typeface="Arial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10439" indent="-1350169" algn="l" defTabSz="4320540" rtl="0" eaLnBrk="1" latinLnBrk="0" hangingPunct="1">
        <a:spcBef>
          <a:spcPct val="20000"/>
        </a:spcBef>
        <a:buFont typeface="Arial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67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945" indent="-1080135" algn="l" defTabSz="4320540" rtl="0" eaLnBrk="1" latinLnBrk="0" hangingPunct="1">
        <a:spcBef>
          <a:spcPct val="20000"/>
        </a:spcBef>
        <a:buFont typeface="Arial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21215" indent="-1080135" algn="l" defTabSz="4320540" rtl="0" eaLnBrk="1" latinLnBrk="0" hangingPunct="1">
        <a:spcBef>
          <a:spcPct val="20000"/>
        </a:spcBef>
        <a:buFont typeface="Arial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8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5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2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6229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-8813" y="-73282"/>
            <a:ext cx="32412863" cy="4320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61806" y="4176148"/>
            <a:ext cx="30749932" cy="5790796"/>
          </a:xfrm>
        </p:spPr>
        <p:txBody>
          <a:bodyPr>
            <a:normAutofit fontScale="90000"/>
          </a:bodyPr>
          <a:lstStyle/>
          <a:p>
            <a:pPr hangingPunct="0"/>
            <a:r>
              <a:rPr lang="pt-BR" sz="5400" b="1"/>
              <a:t>RECOMENDA.AI: APLICAÇÃO DE ÁRVORE DE DECISÃO PARA PREVISÃO DE PREFERÊNCIAS DE USUÁRIO EM UM SISTEMA DE RECOMENDAÇÃO DE FILMES</a:t>
            </a:r>
            <a:br>
              <a:rPr lang="pt-BR" sz="5400" b="1"/>
            </a:br>
            <a:br>
              <a:rPr lang="pt-BR" sz="5400"/>
            </a:br>
            <a:r>
              <a:rPr lang="pt-BR" sz="4400" b="1"/>
              <a:t>Matheus Moura Rodrigues Costa; Milena Silva de Almeida; Michel Santana Garcia; Pablo Anderson Azevedo do Rosário</a:t>
            </a:r>
            <a:br>
              <a:rPr lang="pt-BR" sz="4400" b="1"/>
            </a:br>
            <a:r>
              <a:rPr lang="pt-BR" sz="4400" b="1"/>
              <a:t>Orientador: Adailton Cerqueira</a:t>
            </a:r>
            <a:br>
              <a:rPr lang="pt-BR" sz="4400" b="1"/>
            </a:br>
            <a:br>
              <a:rPr lang="pt-BR" sz="4400" b="1"/>
            </a:br>
            <a:r>
              <a:rPr lang="pt-BR" sz="4400"/>
              <a:t>Universidade Salvador – Salvador – BA – Brasil</a:t>
            </a:r>
            <a:br>
              <a:rPr lang="pt-BR" sz="9600"/>
            </a:br>
            <a:endParaRPr lang="pt-BR" sz="440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96254" y="10474898"/>
            <a:ext cx="14785564" cy="28097154"/>
          </a:xfr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pPr algn="just">
              <a:spcBef>
                <a:spcPts val="0"/>
              </a:spcBef>
            </a:pPr>
            <a:r>
              <a:rPr lang="pt-BR" sz="6600" b="1">
                <a:solidFill>
                  <a:schemeClr val="tx1"/>
                </a:solidFill>
              </a:rPr>
              <a:t>INTRODUÇÃO E OBJETIVO</a:t>
            </a:r>
          </a:p>
          <a:p>
            <a:pPr algn="just">
              <a:spcBef>
                <a:spcPts val="0"/>
              </a:spcBef>
            </a:pPr>
            <a:endParaRPr lang="pt-BR" sz="320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>
                <a:solidFill>
                  <a:schemeClr val="tx1"/>
                </a:solidFill>
              </a:rPr>
              <a:t>Em um mundo repleto de informações e opções, sistemas de recomendação têm se tornado ferramentas fundamentais para reduzir o excesso de conteúdo e personalizar as experiências dos usuários. Muitas vezes, as pessoas perdem muito tempo buscando algo que esteja alinhado aos seus gostos. É comum, por exemplo, que um usuário abra uma plataforma de filmes e passe minutos (ou até horas) rolando sugestões, lendo sinopses e comparando opções que nem sempre correspondem ao seu interesse.</a:t>
            </a:r>
          </a:p>
          <a:p>
            <a:pPr algn="just">
              <a:spcBef>
                <a:spcPts val="0"/>
              </a:spcBef>
            </a:pPr>
            <a:r>
              <a:rPr lang="pt-BR" sz="3200">
                <a:solidFill>
                  <a:schemeClr val="tx1"/>
                </a:solidFill>
              </a:rPr>
              <a:t>Diante disso, o projeto </a:t>
            </a:r>
            <a:r>
              <a:rPr lang="pt-BR" sz="3200" b="1">
                <a:solidFill>
                  <a:schemeClr val="tx1"/>
                </a:solidFill>
              </a:rPr>
              <a:t>Recomenda.ai </a:t>
            </a:r>
            <a:r>
              <a:rPr lang="pt-BR" sz="3200">
                <a:solidFill>
                  <a:schemeClr val="tx1"/>
                </a:solidFill>
              </a:rPr>
              <a:t>propõe o desenvolvimento e o treinamento de uma </a:t>
            </a:r>
            <a:r>
              <a:rPr lang="pt-BR" sz="3200" b="1">
                <a:solidFill>
                  <a:schemeClr val="tx1"/>
                </a:solidFill>
              </a:rPr>
              <a:t>Árvore de Decisão</a:t>
            </a:r>
            <a:r>
              <a:rPr lang="pt-BR" sz="3200">
                <a:solidFill>
                  <a:schemeClr val="tx1"/>
                </a:solidFill>
              </a:rPr>
              <a:t>, um algoritmo de Machine Learning escolhido pela sua alta capacidade de interpretação. O objetivo central é criar um modelo preditivo capaz de classificar automaticamente filmes, identificando padrões em atributos como ator, gênero e diretor que influenciam a aceitação do público com base em dados históricos de avaliações.</a:t>
            </a:r>
          </a:p>
          <a:p>
            <a:pPr algn="just">
              <a:spcBef>
                <a:spcPts val="0"/>
              </a:spcBef>
            </a:pPr>
            <a:endParaRPr lang="pt-BR" sz="320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endParaRPr lang="pt-BR" sz="320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endParaRPr lang="pt-BR" sz="3200" b="1">
              <a:solidFill>
                <a:schemeClr val="accent1">
                  <a:lumMod val="75000"/>
                </a:schemeClr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6600" b="1">
                <a:solidFill>
                  <a:schemeClr val="tx1"/>
                </a:solidFill>
              </a:rPr>
              <a:t>METODOLOGIA</a:t>
            </a:r>
          </a:p>
          <a:p>
            <a:pPr algn="just">
              <a:spcBef>
                <a:spcPts val="0"/>
              </a:spcBef>
            </a:pPr>
            <a:r>
              <a:rPr lang="pt-BR" sz="2800">
                <a:solidFill>
                  <a:schemeClr val="tx1"/>
                </a:solidFill>
              </a:rPr>
              <a:t>(i) Pré-processamento dos Dados: Organização e filtragem da base, mantendo apenas os atributos relevantes (ator, gênero e diretor); (</a:t>
            </a:r>
            <a:r>
              <a:rPr lang="pt-BR" sz="2800" err="1">
                <a:solidFill>
                  <a:schemeClr val="tx1"/>
                </a:solidFill>
              </a:rPr>
              <a:t>ii</a:t>
            </a:r>
            <a:r>
              <a:rPr lang="pt-BR" sz="2800">
                <a:solidFill>
                  <a:schemeClr val="tx1"/>
                </a:solidFill>
              </a:rPr>
              <a:t>) Divisão do Conjunto de Dados: O </a:t>
            </a:r>
            <a:r>
              <a:rPr lang="pt-BR" sz="2800" err="1">
                <a:solidFill>
                  <a:schemeClr val="tx1"/>
                </a:solidFill>
              </a:rPr>
              <a:t>dataset</a:t>
            </a:r>
            <a:r>
              <a:rPr lang="pt-BR" sz="2800">
                <a:solidFill>
                  <a:schemeClr val="tx1"/>
                </a:solidFill>
              </a:rPr>
              <a:t> foi separado em 80% para treino e 20% para teste, garantindo uma avaliação imparcial do modelo; (</a:t>
            </a:r>
            <a:r>
              <a:rPr lang="pt-BR" sz="2800" err="1">
                <a:solidFill>
                  <a:schemeClr val="tx1"/>
                </a:solidFill>
              </a:rPr>
              <a:t>iii</a:t>
            </a:r>
            <a:r>
              <a:rPr lang="pt-BR" sz="2800">
                <a:solidFill>
                  <a:schemeClr val="tx1"/>
                </a:solidFill>
              </a:rPr>
              <a:t>) Treinamento do Modelo: Foi aplicado o algoritmo Árvore de Decisão devido sua alta </a:t>
            </a:r>
            <a:r>
              <a:rPr lang="pt-BR" sz="2800" err="1">
                <a:solidFill>
                  <a:schemeClr val="tx1"/>
                </a:solidFill>
              </a:rPr>
              <a:t>interpretabilidade</a:t>
            </a:r>
            <a:r>
              <a:rPr lang="pt-BR" sz="2800">
                <a:solidFill>
                  <a:schemeClr val="tx1"/>
                </a:solidFill>
              </a:rPr>
              <a:t>. O modelo aprendeu a identificar padrões entre os metadados dos filmes e suas respectivas avaliações; (</a:t>
            </a:r>
            <a:r>
              <a:rPr lang="pt-BR" sz="2800" err="1">
                <a:solidFill>
                  <a:schemeClr val="tx1"/>
                </a:solidFill>
              </a:rPr>
              <a:t>iv</a:t>
            </a:r>
            <a:r>
              <a:rPr lang="pt-BR" sz="2800">
                <a:solidFill>
                  <a:schemeClr val="tx1"/>
                </a:solidFill>
              </a:rPr>
              <a:t>) Avaliação de Desempenho: Foram geradas métricas como acurácia, matriz de confusão e </a:t>
            </a:r>
            <a:r>
              <a:rPr lang="pt-BR" sz="2800" err="1">
                <a:solidFill>
                  <a:schemeClr val="tx1"/>
                </a:solidFill>
              </a:rPr>
              <a:t>classification</a:t>
            </a:r>
            <a:r>
              <a:rPr lang="pt-BR" sz="2800">
                <a:solidFill>
                  <a:schemeClr val="tx1"/>
                </a:solidFill>
              </a:rPr>
              <a:t> </a:t>
            </a:r>
            <a:r>
              <a:rPr lang="pt-BR" sz="2800" err="1">
                <a:solidFill>
                  <a:schemeClr val="tx1"/>
                </a:solidFill>
              </a:rPr>
              <a:t>report</a:t>
            </a:r>
            <a:r>
              <a:rPr lang="pt-BR" sz="2800">
                <a:solidFill>
                  <a:schemeClr val="tx1"/>
                </a:solidFill>
              </a:rPr>
              <a:t>, permitindo analisar acertos, erros e sensibilidade do modelo em relação às classes previstas;</a:t>
            </a:r>
          </a:p>
          <a:p>
            <a:pPr algn="just">
              <a:spcBef>
                <a:spcPts val="0"/>
              </a:spcBef>
            </a:pPr>
            <a:endParaRPr lang="pt-BR" sz="280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endParaRPr lang="pt-BR" sz="280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endParaRPr lang="pt-BR" sz="280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6600" b="1">
                <a:solidFill>
                  <a:schemeClr val="tx1"/>
                </a:solidFill>
              </a:rPr>
              <a:t>RESULTADOS</a:t>
            </a:r>
          </a:p>
          <a:p>
            <a:pPr algn="just">
              <a:spcBef>
                <a:spcPts val="0"/>
              </a:spcBef>
            </a:pPr>
            <a:endParaRPr lang="pt-BR" sz="320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>
                <a:solidFill>
                  <a:schemeClr val="tx1"/>
                </a:solidFill>
              </a:rPr>
              <a:t>Os resultados obtidos demonstram a capacidade do sistema em segmentar filmes com base em metadados técnicos, utilizando atributos como ator, gênero e diretor como fundamentos para a classificação. Durante a execução do modelo, foram geradas métricas que permitem avaliar seu desempenho.</a:t>
            </a:r>
          </a:p>
          <a:p>
            <a:pPr algn="just">
              <a:spcBef>
                <a:spcPts val="0"/>
              </a:spcBef>
            </a:pPr>
            <a:r>
              <a:rPr lang="pt-BR" sz="3200">
                <a:solidFill>
                  <a:schemeClr val="tx1"/>
                </a:solidFill>
              </a:rPr>
              <a:t>A acurácia alcançada foi de 61,32%, indicando que o modelo acertou aproximadamente seis em cada dez previsões realizadas sobre o conjunto de teste, o que demonstra um desempenho moderado. Além disso, a matriz de confusão constatou que o modelo identificou:</a:t>
            </a:r>
          </a:p>
          <a:p>
            <a:pPr algn="just">
              <a:spcBef>
                <a:spcPts val="0"/>
              </a:spcBef>
            </a:pPr>
            <a:endParaRPr lang="pt-BR" sz="3200">
              <a:solidFill>
                <a:schemeClr val="tx1"/>
              </a:solidFill>
            </a:endParaRPr>
          </a:p>
          <a:p>
            <a:pPr marL="457200" indent="-4572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>
                <a:solidFill>
                  <a:schemeClr val="tx1"/>
                </a:solidFill>
              </a:rPr>
              <a:t>726 verdadeiros positivos </a:t>
            </a:r>
          </a:p>
          <a:p>
            <a:pPr marL="457200" indent="-4572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>
                <a:solidFill>
                  <a:schemeClr val="tx1"/>
                </a:solidFill>
              </a:rPr>
              <a:t>286 falsos positivos </a:t>
            </a:r>
          </a:p>
          <a:p>
            <a:pPr marL="457200" indent="-4572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>
                <a:solidFill>
                  <a:schemeClr val="tx1"/>
                </a:solidFill>
              </a:rPr>
              <a:t>457 falsos negativos </a:t>
            </a:r>
          </a:p>
          <a:p>
            <a:pPr marL="457200" indent="-4572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>
                <a:solidFill>
                  <a:schemeClr val="tx1"/>
                </a:solidFill>
              </a:rPr>
              <a:t>252 verdadeiros negativos</a:t>
            </a:r>
          </a:p>
          <a:p>
            <a:pPr algn="just">
              <a:spcBef>
                <a:spcPts val="0"/>
              </a:spcBef>
            </a:pPr>
            <a:endParaRPr lang="pt-BR" sz="320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>
                <a:solidFill>
                  <a:schemeClr val="tx1"/>
                </a:solidFill>
              </a:rPr>
              <a:t>Tais resultados evidenciam acertos tanto ao recomendar quanto ao não recomendar filmes, entretanto, a quantidade de falsos negativos demostra um erro significativo, levando em consideração a quantidade de boas recomendações que podem ter sido perdidas.</a:t>
            </a:r>
          </a:p>
          <a:p>
            <a:pPr algn="just">
              <a:spcBef>
                <a:spcPts val="0"/>
              </a:spcBef>
            </a:pPr>
            <a:endParaRPr lang="pt-BR" sz="3200">
              <a:solidFill>
                <a:schemeClr val="tx1"/>
              </a:solidFill>
            </a:endParaRPr>
          </a:p>
        </p:txBody>
      </p:sp>
      <p:sp>
        <p:nvSpPr>
          <p:cNvPr id="15" name="Subtítulo 2"/>
          <p:cNvSpPr txBox="1">
            <a:spLocks/>
          </p:cNvSpPr>
          <p:nvPr/>
        </p:nvSpPr>
        <p:spPr>
          <a:xfrm>
            <a:off x="16035133" y="10474897"/>
            <a:ext cx="15576604" cy="29235613"/>
          </a:xfrm>
          <a:prstGeom prst="rect">
            <a:avLst/>
          </a:prstGeom>
          <a:noFill/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r>
              <a:rPr lang="pt-BR" sz="4400" b="1"/>
              <a:t>Figura 1 - Resultados obtidos a partir do treinamento da árvore de decisão</a:t>
            </a:r>
          </a:p>
          <a:p>
            <a:endParaRPr lang="pt-BR" sz="9600" b="1"/>
          </a:p>
          <a:p>
            <a:pPr algn="just">
              <a:spcBef>
                <a:spcPts val="0"/>
              </a:spcBef>
            </a:pPr>
            <a:endParaRPr lang="pt-BR" sz="9600" b="1"/>
          </a:p>
          <a:p>
            <a:pPr algn="just">
              <a:spcBef>
                <a:spcPts val="0"/>
              </a:spcBef>
            </a:pPr>
            <a:endParaRPr lang="pt-BR" sz="9600" b="1"/>
          </a:p>
          <a:p>
            <a:pPr algn="just">
              <a:spcBef>
                <a:spcPts val="0"/>
              </a:spcBef>
            </a:pPr>
            <a:endParaRPr lang="pt-BR" sz="9600" b="1"/>
          </a:p>
          <a:p>
            <a:pPr algn="just">
              <a:spcBef>
                <a:spcPts val="0"/>
              </a:spcBef>
            </a:pPr>
            <a:endParaRPr lang="pt-BR" sz="9600" b="1"/>
          </a:p>
          <a:p>
            <a:pPr algn="just">
              <a:spcBef>
                <a:spcPts val="0"/>
              </a:spcBef>
            </a:pPr>
            <a:endParaRPr lang="pt-BR" sz="9600" b="1"/>
          </a:p>
          <a:p>
            <a:pPr algn="just">
              <a:spcBef>
                <a:spcPts val="0"/>
              </a:spcBef>
            </a:pPr>
            <a:endParaRPr lang="pt-BR" sz="9600" b="1"/>
          </a:p>
          <a:p>
            <a:pPr algn="just"/>
            <a:r>
              <a:rPr lang="pt-BR" sz="4400" b="1"/>
              <a:t>Figura 2 - Recomendações feitas pelo Recomenda.ai por similaridade a partir do filme “O Lobo de Wall Street”</a:t>
            </a:r>
          </a:p>
          <a:p>
            <a:pPr algn="just">
              <a:spcBef>
                <a:spcPts val="0"/>
              </a:spcBef>
            </a:pPr>
            <a:endParaRPr lang="pt-BR" sz="6600" b="1"/>
          </a:p>
          <a:p>
            <a:pPr algn="just">
              <a:spcBef>
                <a:spcPts val="0"/>
              </a:spcBef>
            </a:pPr>
            <a:endParaRPr lang="pt-BR" sz="6600" b="1"/>
          </a:p>
          <a:p>
            <a:pPr algn="just">
              <a:spcBef>
                <a:spcPts val="0"/>
              </a:spcBef>
            </a:pPr>
            <a:endParaRPr lang="pt-BR" sz="6600" b="1"/>
          </a:p>
          <a:p>
            <a:pPr algn="just">
              <a:spcBef>
                <a:spcPts val="0"/>
              </a:spcBef>
            </a:pPr>
            <a:endParaRPr lang="pt-BR" sz="6600" b="1"/>
          </a:p>
          <a:p>
            <a:pPr algn="just">
              <a:spcBef>
                <a:spcPts val="0"/>
              </a:spcBef>
            </a:pPr>
            <a:endParaRPr lang="pt-BR" sz="6600" b="1"/>
          </a:p>
          <a:p>
            <a:pPr algn="just">
              <a:spcBef>
                <a:spcPts val="0"/>
              </a:spcBef>
            </a:pPr>
            <a:endParaRPr lang="pt-BR" sz="6600" b="1"/>
          </a:p>
          <a:p>
            <a:pPr algn="just">
              <a:spcBef>
                <a:spcPts val="0"/>
              </a:spcBef>
            </a:pPr>
            <a:endParaRPr lang="pt-BR" sz="6600" b="1"/>
          </a:p>
          <a:p>
            <a:pPr algn="just">
              <a:spcBef>
                <a:spcPts val="0"/>
              </a:spcBef>
            </a:pPr>
            <a:endParaRPr lang="pt-BR" sz="6600" b="1"/>
          </a:p>
          <a:p>
            <a:pPr algn="just">
              <a:spcBef>
                <a:spcPts val="0"/>
              </a:spcBef>
            </a:pPr>
            <a:r>
              <a:rPr lang="pt-BR" sz="6600" b="1"/>
              <a:t>CONCLUSÃO</a:t>
            </a:r>
            <a:endParaRPr lang="pt-BR" sz="9600" b="1"/>
          </a:p>
          <a:p>
            <a:pPr algn="just"/>
            <a:r>
              <a:rPr lang="pt-BR" sz="3200"/>
              <a:t>O projeto Recomenda.ai cumpriu o seu objetivo de aplicar técnicas de inteligência artificial e demonstrou que atributos técnicos possuem relevância estatística na previsão de preferências do usuário. A utilização da Árvore de Decisão garantiu a </a:t>
            </a:r>
            <a:r>
              <a:rPr lang="pt-BR" sz="3200" err="1"/>
              <a:t>interpretabilidade</a:t>
            </a:r>
            <a:r>
              <a:rPr lang="pt-BR" sz="3200"/>
              <a:t> do modelo, permitindo compreender as regras que definem a recomendação.</a:t>
            </a:r>
          </a:p>
          <a:p>
            <a:pPr algn="just"/>
            <a:r>
              <a:rPr lang="pt-BR" sz="3200"/>
              <a:t>Embora o sistema seja eficaz em filtrar conteúdos indesejados, o modelo atual adota um comportamento tímido, resultando numa perda significativa de sugestões relevantes. A acurácia de 61,32% evidencia que, para lidar com a complexidade do gosto humano, é necessário evoluir a arquitetura do classificador.</a:t>
            </a:r>
          </a:p>
          <a:p>
            <a:pPr algn="just"/>
            <a:r>
              <a:rPr lang="pt-BR" sz="3200"/>
              <a:t>Como uma oportunidade de melhoria, consideramos a implementação de Random Forest, método que tende a reduzir a variância e o </a:t>
            </a:r>
            <a:r>
              <a:rPr lang="pt-BR" sz="3200" err="1"/>
              <a:t>overfitting</a:t>
            </a:r>
            <a:r>
              <a:rPr lang="pt-BR" sz="3200"/>
              <a:t>, aumentando a eficiência do sistema. Espera-se que essa evolução, aliada ao enriquecimento da base de dados, eleve a acurácia e, crucialmente, reduza a taxa de falsos negativos, garantindo que o usuário não deixe de receber recomendações de filmes que provavelmente apreciaria.</a:t>
            </a:r>
          </a:p>
          <a:p>
            <a:pPr algn="just"/>
            <a:endParaRPr lang="pt-BR" sz="3200"/>
          </a:p>
          <a:p>
            <a:pPr algn="just"/>
            <a:endParaRPr lang="pt-BR" sz="3200"/>
          </a:p>
          <a:p>
            <a:pPr algn="just"/>
            <a:endParaRPr lang="pt-BR"/>
          </a:p>
          <a:p>
            <a:endParaRPr lang="pt-BR" sz="280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5720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7" name="Subtítulo 2"/>
          <p:cNvSpPr txBox="1">
            <a:spLocks/>
          </p:cNvSpPr>
          <p:nvPr/>
        </p:nvSpPr>
        <p:spPr>
          <a:xfrm>
            <a:off x="660167" y="39918252"/>
            <a:ext cx="30749932" cy="5160978"/>
          </a:xfrm>
          <a:prstGeom prst="rect">
            <a:avLst/>
          </a:prstGeo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>
            <a:lvl1pPr marL="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5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16027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32054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48081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64108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80135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6162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12189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28216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pt-BR" sz="6600" b="1">
                <a:solidFill>
                  <a:schemeClr val="tx1"/>
                </a:solidFill>
              </a:rPr>
              <a:t>REFERÊNCIAS BIBLIOGRÁFICAS</a:t>
            </a:r>
          </a:p>
          <a:p>
            <a:pPr algn="just">
              <a:spcBef>
                <a:spcPts val="0"/>
              </a:spcBef>
            </a:pPr>
            <a:r>
              <a:rPr lang="pt-BR" sz="2800" b="1">
                <a:solidFill>
                  <a:schemeClr val="tx1"/>
                </a:solidFill>
              </a:rPr>
              <a:t>NAVLANI, </a:t>
            </a:r>
            <a:r>
              <a:rPr lang="pt-BR" sz="2800" b="1" err="1">
                <a:solidFill>
                  <a:schemeClr val="tx1"/>
                </a:solidFill>
              </a:rPr>
              <a:t>Avinash</a:t>
            </a:r>
            <a:r>
              <a:rPr lang="pt-BR" sz="2800" b="1">
                <a:solidFill>
                  <a:schemeClr val="tx1"/>
                </a:solidFill>
              </a:rPr>
              <a:t>. Classificação da árvore de decisão em Python. </a:t>
            </a:r>
            <a:r>
              <a:rPr lang="pt-BR" sz="2800" b="1" err="1">
                <a:solidFill>
                  <a:schemeClr val="tx1"/>
                </a:solidFill>
              </a:rPr>
              <a:t>DataCamp</a:t>
            </a:r>
            <a:r>
              <a:rPr lang="pt-BR" sz="2800" b="1">
                <a:solidFill>
                  <a:schemeClr val="tx1"/>
                </a:solidFill>
              </a:rPr>
              <a:t>. Disponível em: https://www.datacamp.com/</a:t>
            </a:r>
            <a:r>
              <a:rPr lang="pt-BR" sz="2800" b="1" err="1">
                <a:solidFill>
                  <a:schemeClr val="tx1"/>
                </a:solidFill>
              </a:rPr>
              <a:t>pt</a:t>
            </a:r>
            <a:r>
              <a:rPr lang="pt-BR" sz="2800" b="1">
                <a:solidFill>
                  <a:schemeClr val="tx1"/>
                </a:solidFill>
              </a:rPr>
              <a:t>/tutorial/</a:t>
            </a:r>
            <a:r>
              <a:rPr lang="pt-BR" sz="2800" b="1" err="1">
                <a:solidFill>
                  <a:schemeClr val="tx1"/>
                </a:solidFill>
              </a:rPr>
              <a:t>decision-tree-classification-python</a:t>
            </a:r>
            <a:r>
              <a:rPr lang="pt-BR" sz="2800" b="1">
                <a:solidFill>
                  <a:schemeClr val="tx1"/>
                </a:solidFill>
              </a:rPr>
              <a:t>. Acesso em: 20 nov. 2025.</a:t>
            </a:r>
          </a:p>
          <a:p>
            <a:pPr algn="just">
              <a:spcBef>
                <a:spcPts val="0"/>
              </a:spcBef>
            </a:pPr>
            <a:r>
              <a:rPr lang="pt-BR" sz="2800" b="1">
                <a:solidFill>
                  <a:schemeClr val="tx1"/>
                </a:solidFill>
              </a:rPr>
              <a:t>SCIKIT-LEARN. 1.10. </a:t>
            </a:r>
            <a:r>
              <a:rPr lang="pt-BR" sz="2800" b="1" err="1">
                <a:solidFill>
                  <a:schemeClr val="tx1"/>
                </a:solidFill>
              </a:rPr>
              <a:t>Decision</a:t>
            </a:r>
            <a:r>
              <a:rPr lang="pt-BR" sz="2800" b="1">
                <a:solidFill>
                  <a:schemeClr val="tx1"/>
                </a:solidFill>
              </a:rPr>
              <a:t> </a:t>
            </a:r>
            <a:r>
              <a:rPr lang="pt-BR" sz="2800" b="1" err="1">
                <a:solidFill>
                  <a:schemeClr val="tx1"/>
                </a:solidFill>
              </a:rPr>
              <a:t>Trees</a:t>
            </a:r>
            <a:r>
              <a:rPr lang="pt-BR" sz="2800" b="1">
                <a:solidFill>
                  <a:schemeClr val="tx1"/>
                </a:solidFill>
              </a:rPr>
              <a:t>. [</a:t>
            </a:r>
            <a:r>
              <a:rPr lang="pt-BR" sz="2800" b="1" err="1">
                <a:solidFill>
                  <a:schemeClr val="tx1"/>
                </a:solidFill>
              </a:rPr>
              <a:t>S.l</a:t>
            </a:r>
            <a:r>
              <a:rPr lang="pt-BR" sz="2800" b="1">
                <a:solidFill>
                  <a:schemeClr val="tx1"/>
                </a:solidFill>
              </a:rPr>
              <a:t>.], [s.d.]. Disponível em: https://scikit-learn.org/</a:t>
            </a:r>
            <a:r>
              <a:rPr lang="pt-BR" sz="2800" b="1" err="1">
                <a:solidFill>
                  <a:schemeClr val="tx1"/>
                </a:solidFill>
              </a:rPr>
              <a:t>stable</a:t>
            </a:r>
            <a:r>
              <a:rPr lang="pt-BR" sz="2800" b="1">
                <a:solidFill>
                  <a:schemeClr val="tx1"/>
                </a:solidFill>
              </a:rPr>
              <a:t>/modules/tree.html. Acesso em: 19 nov. 2025</a:t>
            </a:r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DE0425B4-4BBE-4119-F4E3-54908A697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9115" y="73282"/>
            <a:ext cx="7724775" cy="419791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6012876-1C84-8DE5-9B13-5905E424B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34" y="1299271"/>
            <a:ext cx="10612836" cy="2368923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F63F54B-3E7B-3682-94FE-B42CCCF6C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38655" y="685800"/>
            <a:ext cx="3880300" cy="319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4DBFA620-FB74-8C3E-9DDF-C4A431463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34777" y="12339031"/>
            <a:ext cx="15574460" cy="944650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D161516-B196-FF4B-73FF-12ECDFA866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33434" y="27361997"/>
            <a:ext cx="15574460" cy="4010239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0F9A11D0-9C63-477A-0CA0-AEA4E81A69D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71820" b="1"/>
          <a:stretch>
            <a:fillRect/>
          </a:stretch>
        </p:blipFill>
        <p:spPr>
          <a:xfrm>
            <a:off x="16433434" y="23866695"/>
            <a:ext cx="15573600" cy="34953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780</Words>
  <Application>Microsoft Office PowerPoint</Application>
  <PresentationFormat>Personalizar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do Office</vt:lpstr>
      <vt:lpstr>RECOMENDA.AI: APLICAÇÃO DE ÁRVORE DE DECISÃO PARA PREVISÃO DE PREFERÊNCIAS DE USUÁRIO EM UM SISTEMA DE RECOMENDAÇÃO DE FILMES  Matheus Moura Rodrigues Costa; Milena Silva de Almeida; Michel Santana Garcia; Pablo Anderson Azevedo do Rosário Orientador: Adailton Cerqueira  Universidade Salvador – Salvador – BA – Brasil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on the Beach 2011</dc:title>
  <dc:creator>Tristao</dc:creator>
  <cp:lastModifiedBy>Matheus Moura Rodrigues Costa</cp:lastModifiedBy>
  <cp:revision>2</cp:revision>
  <dcterms:created xsi:type="dcterms:W3CDTF">2011-04-07T11:05:01Z</dcterms:created>
  <dcterms:modified xsi:type="dcterms:W3CDTF">2025-11-21T21:43:09Z</dcterms:modified>
</cp:coreProperties>
</file>