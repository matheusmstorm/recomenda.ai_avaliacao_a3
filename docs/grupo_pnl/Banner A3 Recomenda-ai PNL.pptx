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2385000" cy="43205400"/>
  <p:notesSz cx="6858000" cy="9144000"/>
  <p:embeddedFontLst>
    <p:embeddedFont>
      <p:font typeface="Calibri (MS)" panose="020B0604020202020204" charset="0"/>
      <p:regular r:id="rId3"/>
    </p:embeddedFont>
    <p:embeddedFont>
      <p:font typeface="Calibri (MS)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2" d="100"/>
          <a:sy n="12" d="100"/>
        </p:scale>
        <p:origin x="2635" y="1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300" y="-38100"/>
            <a:ext cx="32573301" cy="43419259"/>
            <a:chOff x="0" y="0"/>
            <a:chExt cx="43217151" cy="5760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17210" cy="57607200"/>
            </a:xfrm>
            <a:custGeom>
              <a:avLst/>
              <a:gdLst/>
              <a:ahLst/>
              <a:cxnLst/>
              <a:rect l="l" t="t" r="r" b="b"/>
              <a:pathLst>
                <a:path w="43217210" h="57607200">
                  <a:moveTo>
                    <a:pt x="0" y="0"/>
                  </a:moveTo>
                  <a:lnTo>
                    <a:pt x="43217210" y="0"/>
                  </a:lnTo>
                  <a:lnTo>
                    <a:pt x="43217210" y="57607200"/>
                  </a:lnTo>
                  <a:lnTo>
                    <a:pt x="0" y="57607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74034" y="4525879"/>
            <a:ext cx="30749932" cy="5790796"/>
            <a:chOff x="0" y="0"/>
            <a:chExt cx="40999909" cy="77210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999910" cy="7721061"/>
            </a:xfrm>
            <a:custGeom>
              <a:avLst/>
              <a:gdLst/>
              <a:ahLst/>
              <a:cxnLst/>
              <a:rect l="l" t="t" r="r" b="b"/>
              <a:pathLst>
                <a:path w="40999910" h="7721061">
                  <a:moveTo>
                    <a:pt x="0" y="0"/>
                  </a:moveTo>
                  <a:lnTo>
                    <a:pt x="40999910" y="0"/>
                  </a:lnTo>
                  <a:lnTo>
                    <a:pt x="40999910" y="7721061"/>
                  </a:lnTo>
                  <a:lnTo>
                    <a:pt x="0" y="77210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40999909" cy="7835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Recomenda.ai: Aplicação de Processamento de Linguagem Natural em Sistemas de Recomendação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Maria Eduarda Nascimento dos Santos; Marlon Dêivide Gomes da Silva; João Vitor Fernandes Ribeiro.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Orientador: Adailton de Jesus Cerqueira Junior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Universidade Salvador(UNIFACS) – Salvador – BA – Brasil</a:t>
              </a:r>
            </a:p>
            <a:p>
              <a:pPr algn="ctr">
                <a:lnSpc>
                  <a:spcPts val="5280"/>
                </a:lnSpc>
              </a:pPr>
              <a:endParaRPr lang="en-US" sz="4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829911" y="11088634"/>
            <a:ext cx="16288389" cy="2763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2"/>
              </a:lnSpc>
            </a:pPr>
            <a:r>
              <a:rPr lang="en-US" sz="446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Figura</a:t>
            </a:r>
            <a:r>
              <a:rPr lang="en-US" sz="446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1 – Interface do Recomenda.ai </a:t>
            </a:r>
            <a:r>
              <a:rPr lang="en-US" sz="446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exibindo</a:t>
            </a:r>
            <a:r>
              <a:rPr lang="en-US" sz="446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 ranking de </a:t>
            </a:r>
            <a:r>
              <a:rPr lang="en-US" sz="446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similaridade</a:t>
            </a:r>
            <a:r>
              <a:rPr lang="en-US" sz="446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para um </a:t>
            </a:r>
            <a:r>
              <a:rPr lang="en-US" sz="446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filme</a:t>
            </a:r>
            <a:r>
              <a:rPr lang="en-US" sz="446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 entrada.</a:t>
            </a: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845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5352"/>
              </a:lnSpc>
            </a:pPr>
            <a:r>
              <a:rPr lang="en-US" sz="446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Figura</a:t>
            </a:r>
            <a:r>
              <a:rPr lang="en-US" sz="446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2 –  Snippet da </a:t>
            </a:r>
            <a:r>
              <a:rPr lang="en-US" sz="446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função</a:t>
            </a:r>
            <a:r>
              <a:rPr lang="en-US" sz="446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 </a:t>
            </a:r>
            <a:r>
              <a:rPr lang="en-US" sz="446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treinamento</a:t>
            </a:r>
            <a:r>
              <a:rPr lang="en-US" sz="446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, </a:t>
            </a:r>
            <a:r>
              <a:rPr lang="en-US" sz="446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vetorização</a:t>
            </a:r>
            <a:r>
              <a:rPr lang="en-US" sz="446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 </a:t>
            </a:r>
            <a:r>
              <a:rPr lang="en-US" sz="446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persistência</a:t>
            </a:r>
            <a:r>
              <a:rPr lang="en-US" sz="446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do </a:t>
            </a:r>
            <a:r>
              <a:rPr lang="en-US" sz="446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modelo</a:t>
            </a:r>
            <a:r>
              <a:rPr lang="en-US" sz="446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PNL.</a:t>
            </a: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4251"/>
              </a:lnSpc>
            </a:pPr>
            <a:endParaRPr lang="en-US" sz="446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8768"/>
              </a:lnSpc>
            </a:pPr>
            <a:r>
              <a:rPr lang="en-US" sz="730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CONCLUSÃO</a:t>
            </a:r>
          </a:p>
          <a:p>
            <a:pPr algn="just">
              <a:lnSpc>
                <a:spcPts val="4251"/>
              </a:lnSpc>
            </a:pP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projeto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validou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uso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processamento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linguagem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natural para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curadoria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conteúdo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Através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metadados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foi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possível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conectar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filmes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semanticamente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próximos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oferecendo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uma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alternativa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algorítmica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à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curadoria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manual.</a:t>
            </a:r>
          </a:p>
          <a:p>
            <a:pPr algn="just">
              <a:lnSpc>
                <a:spcPts val="4251"/>
              </a:lnSpc>
            </a:pPr>
            <a:endParaRPr lang="en-US" sz="354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64882" lvl="1" indent="-382441" algn="just">
              <a:lnSpc>
                <a:spcPts val="4251"/>
              </a:lnSpc>
              <a:buFont typeface="Arial"/>
              <a:buChar char="•"/>
            </a:pP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Ponto de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melhoria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Implementar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Pesos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Ponderados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vetorização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dando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maior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relevância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matemática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ao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nome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 '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Diretor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' do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palavras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genéricas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'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Sinopse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',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refinando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assim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especificidade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das </a:t>
            </a:r>
            <a:r>
              <a:rPr lang="en-US" sz="3542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sugestões</a:t>
            </a:r>
            <a:r>
              <a:rPr lang="en-US" sz="354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ts val="4251"/>
              </a:lnSpc>
            </a:pPr>
            <a:endParaRPr lang="en-US" sz="354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4251"/>
              </a:lnSpc>
            </a:pPr>
            <a:endParaRPr lang="en-US" sz="3542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23891884" y="692779"/>
            <a:ext cx="7724775" cy="3553028"/>
            <a:chOff x="0" y="0"/>
            <a:chExt cx="10299700" cy="4737371"/>
          </a:xfrm>
        </p:grpSpPr>
        <p:sp>
          <p:nvSpPr>
            <p:cNvPr id="9" name="Freeform 9" descr="Diagrama  O conteúdo gerado por IA pode estar incorreto."/>
            <p:cNvSpPr/>
            <p:nvPr/>
          </p:nvSpPr>
          <p:spPr>
            <a:xfrm>
              <a:off x="0" y="0"/>
              <a:ext cx="10299700" cy="4737354"/>
            </a:xfrm>
            <a:custGeom>
              <a:avLst/>
              <a:gdLst/>
              <a:ahLst/>
              <a:cxnLst/>
              <a:rect l="l" t="t" r="r" b="b"/>
              <a:pathLst>
                <a:path w="10299700" h="4737354">
                  <a:moveTo>
                    <a:pt x="0" y="0"/>
                  </a:moveTo>
                  <a:lnTo>
                    <a:pt x="10299700" y="0"/>
                  </a:lnTo>
                  <a:lnTo>
                    <a:pt x="10299700" y="4737354"/>
                  </a:lnTo>
                  <a:lnTo>
                    <a:pt x="0" y="4737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2162" b="-3216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74034" y="1299271"/>
            <a:ext cx="10612836" cy="2368923"/>
            <a:chOff x="0" y="0"/>
            <a:chExt cx="14150448" cy="31585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150467" cy="3158617"/>
            </a:xfrm>
            <a:custGeom>
              <a:avLst/>
              <a:gdLst/>
              <a:ahLst/>
              <a:cxnLst/>
              <a:rect l="l" t="t" r="r" b="b"/>
              <a:pathLst>
                <a:path w="14150467" h="3158617">
                  <a:moveTo>
                    <a:pt x="0" y="0"/>
                  </a:moveTo>
                  <a:lnTo>
                    <a:pt x="14150467" y="0"/>
                  </a:lnTo>
                  <a:lnTo>
                    <a:pt x="14150467" y="3158617"/>
                  </a:lnTo>
                  <a:lnTo>
                    <a:pt x="0" y="3158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69" b="-267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7868900" y="25159994"/>
            <a:ext cx="11268665" cy="7332235"/>
          </a:xfrm>
          <a:custGeom>
            <a:avLst/>
            <a:gdLst/>
            <a:ahLst/>
            <a:cxnLst/>
            <a:rect l="l" t="t" r="r" b="b"/>
            <a:pathLst>
              <a:path w="11268665" h="7332235">
                <a:moveTo>
                  <a:pt x="0" y="0"/>
                </a:moveTo>
                <a:lnTo>
                  <a:pt x="11268664" y="0"/>
                </a:lnTo>
                <a:lnTo>
                  <a:pt x="11268664" y="7332235"/>
                </a:lnTo>
                <a:lnTo>
                  <a:pt x="0" y="7332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77" t="-15487" r="-10223" b="-156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Freeform 13"/>
          <p:cNvSpPr/>
          <p:nvPr/>
        </p:nvSpPr>
        <p:spPr>
          <a:xfrm>
            <a:off x="16983502" y="12600353"/>
            <a:ext cx="13320772" cy="10400657"/>
          </a:xfrm>
          <a:custGeom>
            <a:avLst/>
            <a:gdLst/>
            <a:ahLst/>
            <a:cxnLst/>
            <a:rect l="l" t="t" r="r" b="b"/>
            <a:pathLst>
              <a:path w="13320772" h="10400657">
                <a:moveTo>
                  <a:pt x="0" y="0"/>
                </a:moveTo>
                <a:lnTo>
                  <a:pt x="13320772" y="0"/>
                </a:lnTo>
                <a:lnTo>
                  <a:pt x="13320772" y="10400657"/>
                </a:lnTo>
                <a:lnTo>
                  <a:pt x="0" y="10400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TextBox 14"/>
          <p:cNvSpPr txBox="1"/>
          <p:nvPr/>
        </p:nvSpPr>
        <p:spPr>
          <a:xfrm>
            <a:off x="723900" y="11160843"/>
            <a:ext cx="14488508" cy="2422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42"/>
              </a:lnSpc>
            </a:pPr>
            <a:r>
              <a:rPr lang="en-US" sz="6868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INTRODUÇÃO E OBJETIVO</a:t>
            </a:r>
          </a:p>
          <a:p>
            <a:pPr algn="just">
              <a:lnSpc>
                <a:spcPts val="3996"/>
              </a:lnSpc>
            </a:pP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ensinar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um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computador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'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' um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filme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?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Nosso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algoritmos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texto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extrair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unificar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características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direção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elenco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género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criando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uma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assinatura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digital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única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cada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obra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mapeando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conexões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invisíveis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catálogo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ts val="3996"/>
              </a:lnSpc>
            </a:pPr>
            <a:endParaRPr lang="en-US" sz="333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19021" lvl="1" indent="-359511" algn="just">
              <a:lnSpc>
                <a:spcPts val="4862"/>
              </a:lnSpc>
              <a:buFont typeface="Arial"/>
              <a:buChar char="•"/>
            </a:pP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um motor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recomendação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Content-Based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capaz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calcular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similaridade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semântica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entre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filmes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utilizando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técnicas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Processamento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Linguagem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Natural (PNL).</a:t>
            </a:r>
          </a:p>
          <a:p>
            <a:pPr marL="719021" lvl="1" indent="-359511" algn="just">
              <a:lnSpc>
                <a:spcPts val="4862"/>
              </a:lnSpc>
              <a:buFont typeface="Arial"/>
              <a:buChar char="•"/>
            </a:pP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Vetorizar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metadados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textuais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título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género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direção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elenco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 com TF-IDF.</a:t>
            </a:r>
          </a:p>
          <a:p>
            <a:pPr marL="719021" lvl="1" indent="-359511" algn="just">
              <a:lnSpc>
                <a:spcPts val="4862"/>
              </a:lnSpc>
              <a:buFont typeface="Arial"/>
              <a:buChar char="•"/>
            </a:pP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cálculo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Cosine Similarity para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quantificar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proximidade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entre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obras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espaço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vetorial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719021" lvl="1" indent="-359511" algn="just">
              <a:lnSpc>
                <a:spcPts val="4862"/>
              </a:lnSpc>
              <a:buFont typeface="Arial"/>
              <a:buChar char="•"/>
            </a:pP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Permitir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descoberta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filmes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baseada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puramente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características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intrínsecas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obra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independente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avaliação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outros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utilizadores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ts val="3996"/>
              </a:lnSpc>
            </a:pPr>
            <a:endParaRPr lang="en-US" sz="333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3996"/>
              </a:lnSpc>
            </a:pPr>
            <a:endParaRPr lang="en-US" sz="333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3996"/>
              </a:lnSpc>
            </a:pPr>
            <a:endParaRPr lang="en-US" sz="333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8242"/>
              </a:lnSpc>
            </a:pPr>
            <a:r>
              <a:rPr lang="en-US" sz="6868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METODOLOGIA</a:t>
            </a:r>
          </a:p>
          <a:p>
            <a:pPr marL="719021" lvl="1" indent="-359511" algn="just">
              <a:lnSpc>
                <a:spcPts val="4595"/>
              </a:lnSpc>
              <a:buFont typeface="Arial"/>
              <a:buChar char="•"/>
            </a:pP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Pré-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processamento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Criação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coluna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feature_pnl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através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concatenação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metadados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cruciais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Sinopse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Elenco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Género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).</a:t>
            </a:r>
          </a:p>
          <a:p>
            <a:pPr marL="719021" lvl="1" indent="-359511" algn="just">
              <a:lnSpc>
                <a:spcPts val="4595"/>
              </a:lnSpc>
              <a:buFont typeface="Arial"/>
              <a:buChar char="•"/>
            </a:pP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Modelagem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biblioteca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Scikit-learn para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instanciar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TfidfVectorizer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seguindo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abordagem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Kunde et al. (2022), com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remoção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stop-words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inglês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5.000 features.</a:t>
            </a:r>
          </a:p>
          <a:p>
            <a:pPr marL="719021" lvl="1" indent="-359511" algn="just">
              <a:lnSpc>
                <a:spcPts val="4595"/>
              </a:lnSpc>
              <a:buFont typeface="Arial"/>
              <a:buChar char="•"/>
            </a:pP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Cálculo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Distância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Aplicação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função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cosine_similarity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medir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proximidade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semântica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onde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resultados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próximos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1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indicam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máxima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similaridade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conteúdo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719021" lvl="1" indent="-359511" algn="just">
              <a:lnSpc>
                <a:spcPts val="4595"/>
              </a:lnSpc>
              <a:buFont typeface="Arial"/>
              <a:buChar char="•"/>
            </a:pP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Ranking: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Ordenação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decrescente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dos scores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similaridade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para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selecionar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Top-N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vizinhos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mais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próximos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filme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referência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ts val="3996"/>
              </a:lnSpc>
            </a:pPr>
            <a:endParaRPr lang="en-US" sz="333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3996"/>
              </a:lnSpc>
            </a:pPr>
            <a:endParaRPr lang="en-US" sz="333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8242"/>
              </a:lnSpc>
            </a:pPr>
            <a:r>
              <a:rPr lang="en-US" sz="6868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RESULTADOS</a:t>
            </a:r>
          </a:p>
          <a:p>
            <a:pPr marL="719021" lvl="1" indent="-359511" algn="just">
              <a:lnSpc>
                <a:spcPts val="4662"/>
              </a:lnSpc>
              <a:buFont typeface="Arial"/>
              <a:buChar char="•"/>
            </a:pP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Ranking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Similaridade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tabela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apresenta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Top-N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filmes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retornados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pelo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algoritmo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ordenados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pelo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score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proximidade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vetorial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719021" lvl="1" indent="-359511" algn="just">
              <a:lnSpc>
                <a:spcPts val="4662"/>
              </a:lnSpc>
              <a:buFont typeface="Arial"/>
              <a:buChar char="•"/>
            </a:pP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Correlação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Semântica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Observa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-se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agrupou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obras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partilham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apenas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género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mas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também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padrões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textuais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específicos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mesmo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realizador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atores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recorrentes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validando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eficácia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vetorização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TF-IDF.</a:t>
            </a:r>
          </a:p>
          <a:p>
            <a:pPr marL="719021" lvl="1" indent="-359511" algn="just">
              <a:lnSpc>
                <a:spcPts val="4662"/>
              </a:lnSpc>
              <a:buFont typeface="Arial"/>
              <a:buChar char="•"/>
            </a:pP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Precisão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Conteúdo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Diferente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filtros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simples, 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cálculo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Similaridade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Cosseno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permitiu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identificar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nuances no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catálogo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recomendando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filmes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 "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assinatura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digital"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próxima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à do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filme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</a:t>
            </a:r>
            <a:r>
              <a:rPr lang="en-US" sz="333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referência</a:t>
            </a:r>
            <a:r>
              <a:rPr lang="en-US" sz="333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ts val="3996"/>
              </a:lnSpc>
            </a:pPr>
            <a:endParaRPr lang="en-US" sz="333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3996"/>
              </a:lnSpc>
            </a:pPr>
            <a:endParaRPr lang="en-US" sz="333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74713" y="39158790"/>
            <a:ext cx="30972354" cy="319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10"/>
              </a:lnSpc>
            </a:pPr>
            <a:r>
              <a:rPr lang="en-US" sz="675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REFERÊNCIAS BIBLIOGRÁFICAS</a:t>
            </a:r>
          </a:p>
          <a:p>
            <a:pPr algn="just">
              <a:lnSpc>
                <a:spcPts val="8110"/>
              </a:lnSpc>
            </a:pPr>
            <a:endParaRPr lang="en-US" sz="6758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just">
              <a:lnSpc>
                <a:spcPts val="3932"/>
              </a:lnSpc>
            </a:pPr>
            <a:r>
              <a:rPr lang="en-US" sz="327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KUNDE, Omkar et al. The Movie Recommendation System using Content Based Filtering with TF-IDF-Vectorization and Levenshtein Distance. International Journal of Advanced Research in Science, Communication and Technology (IJARSCT), v. 2, n. 2, May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521</Words>
  <Application>Microsoft Office PowerPoint</Application>
  <PresentationFormat>Personalizar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Calibri (MS) Bold</vt:lpstr>
      <vt:lpstr>Calibri (MS)</vt:lpstr>
      <vt:lpstr>Calibri</vt:lpstr>
      <vt:lpstr>Arial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Modelo_Banner_20251003131728.pptx</dc:title>
  <dc:creator>Matheus Moura</dc:creator>
  <cp:lastModifiedBy>Matheus Moura Rodrigues Costa</cp:lastModifiedBy>
  <cp:revision>2</cp:revision>
  <dcterms:created xsi:type="dcterms:W3CDTF">2006-08-16T00:00:00Z</dcterms:created>
  <dcterms:modified xsi:type="dcterms:W3CDTF">2025-11-21T15:01:55Z</dcterms:modified>
  <dc:identifier>DAG4tSGGou0</dc:identifier>
</cp:coreProperties>
</file>